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44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10" Type="http://schemas.openxmlformats.org/officeDocument/2006/relationships/image" Target="../media/image51.png"/><Relationship Id="rId9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54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15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Relationship Id="rId5" Type="http://schemas.openxmlformats.org/officeDocument/2006/relationships/image" Target="../media/image52.png"/><Relationship Id="rId6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53.png"/><Relationship Id="rId7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Relationship Id="rId11" Type="http://schemas.openxmlformats.org/officeDocument/2006/relationships/image" Target="../media/image11.png"/><Relationship Id="rId10" Type="http://schemas.openxmlformats.org/officeDocument/2006/relationships/image" Target="../media/image40.png"/><Relationship Id="rId9" Type="http://schemas.openxmlformats.org/officeDocument/2006/relationships/image" Target="../media/image39.png"/><Relationship Id="rId5" Type="http://schemas.openxmlformats.org/officeDocument/2006/relationships/image" Target="../media/image33.png"/><Relationship Id="rId6" Type="http://schemas.openxmlformats.org/officeDocument/2006/relationships/image" Target="../media/image50.png"/><Relationship Id="rId7" Type="http://schemas.openxmlformats.org/officeDocument/2006/relationships/image" Target="../media/image37.png"/><Relationship Id="rId8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Relationship Id="rId5" Type="http://schemas.openxmlformats.org/officeDocument/2006/relationships/image" Target="../media/image45.png"/><Relationship Id="rId6" Type="http://schemas.openxmlformats.org/officeDocument/2006/relationships/image" Target="../media/image48.png"/><Relationship Id="rId7" Type="http://schemas.openxmlformats.org/officeDocument/2006/relationships/image" Target="../media/image43.png"/><Relationship Id="rId8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5943600" y="73152"/>
            <a:ext cx="3200400" cy="5070348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37160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6583680" y="3200400"/>
            <a:ext cx="73152" cy="73152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6903720" y="3200400"/>
            <a:ext cx="73152" cy="73152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223760" y="3200400"/>
            <a:ext cx="73152" cy="73152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583680" y="3520440"/>
            <a:ext cx="73152" cy="73152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903720" y="3520440"/>
            <a:ext cx="73152" cy="73152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223760" y="3520440"/>
            <a:ext cx="73152" cy="73152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583680" y="3840480"/>
            <a:ext cx="73152" cy="73152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903720" y="3840480"/>
            <a:ext cx="73152" cy="73152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223760" y="3840480"/>
            <a:ext cx="73152" cy="73152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40080" y="73152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 Web para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Gerenciamento 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Metalúrgica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40080" y="283464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40080" y="30632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Projeto de Aprendizagem Colaborativa Extensionista (PAC)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40080" y="34290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Engenharia de Software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40080" y="39319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Centro Universitario Católica de Santa Catarina]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40080" y="41833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Integrantes: </a:t>
            </a: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Gustavo E. Voltolini · Igor de Andrade· Kauan H. Kaestner · Ruan Y. K. Richter · Vitor A. C. da R. Mayer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40080" y="45262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O Problema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Desafios enfrentados pela metalúrgica no dia a dia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046720" y="470916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77240" y="148132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38988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1600200" y="137160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Controle manual de clientes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77240" y="212140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20299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1600200" y="201168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Solicitações via WhatsApp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77240" y="276148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280" y="267004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1600200" y="265176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Informações espalhadas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77240" y="340156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7280" y="331012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1600200" y="329184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Dificuldade em acompanhar orçamentos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777240" y="404164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7280" y="39502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/>
          <p:nvPr/>
        </p:nvSpPr>
        <p:spPr>
          <a:xfrm>
            <a:off x="1600200" y="393192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Falta de organização dos materiais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416016" y="1325880"/>
            <a:ext cx="338328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9016" y="1783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5416016" y="30632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Foto da metalúrgica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416016" y="33375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i="1"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 Inserir imagem 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02424" y="1384173"/>
            <a:ext cx="3210463" cy="2364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 que o sistema busca alcançar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046720" y="470916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40080" y="1371600"/>
            <a:ext cx="246888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162763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1417320" y="15087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Centralizar informações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383280" y="1371600"/>
            <a:ext cx="246888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3566160" y="155448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9312" y="162763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4160520" y="15087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Melhorar o atendimento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126480" y="1371600"/>
            <a:ext cx="246888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2512" y="162763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6903720" y="15087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Organizar solicitações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40080" y="3063240"/>
            <a:ext cx="246888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6112" y="331927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1417320" y="32004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Controlar orçamentos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383280" y="3063240"/>
            <a:ext cx="246888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566160" y="324612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9312" y="331927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4160520" y="32004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Gerenciar materiais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126480" y="3063240"/>
            <a:ext cx="246888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309360" y="324612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2512" y="331927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6903720" y="32004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Digitalizar processos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Tecnologias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Ferramentas utilizadas no desenvolvimento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046720" y="470916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02920" y="1417320"/>
            <a:ext cx="19202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645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6"/>
          <p:cNvSpPr/>
          <p:nvPr/>
        </p:nvSpPr>
        <p:spPr>
          <a:xfrm>
            <a:off x="502920" y="23774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2651760" y="1417320"/>
            <a:ext cx="19202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1645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/>
          <p:nvPr/>
        </p:nvSpPr>
        <p:spPr>
          <a:xfrm>
            <a:off x="2651760" y="23774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Flask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800600" y="1417320"/>
            <a:ext cx="19202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0680" y="1645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4800600" y="23774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949440" y="1417320"/>
            <a:ext cx="19202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9520" y="16459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6949440" y="237744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HTML5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02920" y="3108960"/>
            <a:ext cx="19202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000" y="33375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502920" y="4069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Tailwind CSS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651760" y="3108960"/>
            <a:ext cx="19202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91840" y="33375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2651760" y="4069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800600" y="3108960"/>
            <a:ext cx="19202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40680" y="33375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4800600" y="4069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949440" y="3108960"/>
            <a:ext cx="19202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89520" y="333756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6949440" y="4069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Arquitetura do Sistema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Modelo cliente-servidor em camadas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8046720" y="470916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40079" y="1252728"/>
            <a:ext cx="2540727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3252" y="1340422"/>
            <a:ext cx="409827" cy="40982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/>
          <p:nvPr/>
        </p:nvSpPr>
        <p:spPr>
          <a:xfrm>
            <a:off x="1922943" y="1261872"/>
            <a:ext cx="67003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Usuário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914400" y="1874520"/>
            <a:ext cx="292608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4074" y="198424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2122714" y="1874520"/>
            <a:ext cx="8412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254034" y="2591343"/>
            <a:ext cx="292608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22943" y="27139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2450592" y="2640654"/>
            <a:ext cx="2011680" cy="541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HTML + Tailwind + JS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602903" y="3308166"/>
            <a:ext cx="292608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44852" y="3391609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2956215" y="3273876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Flask (Python)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985554" y="4025317"/>
            <a:ext cx="292608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1334" y="4137984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3331682" y="4024989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520364" y="1018903"/>
            <a:ext cx="246888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108193" y="1239339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Fluxo de Dados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835178" y="1808226"/>
            <a:ext cx="21945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Usuário acessa via navegador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Frontend renderiza a interface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Requisições enviadas à API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Flask processa e valida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Dados persistidos no PostgreSQL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Principais Funcionalidades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Módulos desenvolvidos no sistema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8046720" y="470916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6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02920" y="1371600"/>
            <a:ext cx="1920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02920" y="1371600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720" y="1600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502920" y="22402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02920" y="25146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Autenticação segura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2651760" y="1371600"/>
            <a:ext cx="1920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2651760" y="1371600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1600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2651760" y="22402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651760" y="25146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Visão geral do sistema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800600" y="1371600"/>
            <a:ext cx="1920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4800600" y="1371600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0" y="1600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4800600" y="22402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800600" y="25146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Cadastro e gestão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949440" y="1371600"/>
            <a:ext cx="1920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6949440" y="1371600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5240" y="16002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6949440" y="22402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Solicitações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949440" y="25146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Controle de pedidos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577340" y="3154680"/>
            <a:ext cx="1920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577340" y="3154680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63140" y="33832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/>
          <p:nvPr/>
        </p:nvSpPr>
        <p:spPr>
          <a:xfrm>
            <a:off x="1577340" y="4023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Orçamentos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577340" y="42976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Geração e acompanhamento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726180" y="3154680"/>
            <a:ext cx="1920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3726180" y="3154680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11980" y="33832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3726180" y="4023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Almoxarifado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3726180" y="42976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Controle de materiais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875020" y="3154680"/>
            <a:ext cx="1920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5875020" y="3154680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60820" y="33832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/>
          <p:nvPr/>
        </p:nvSpPr>
        <p:spPr>
          <a:xfrm>
            <a:off x="5875020" y="4023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Site Institucional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875020" y="42976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Presença online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640080" y="-66262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Demonstração do Sistema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40080" y="321199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Telas principais da aplicação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8046720" y="470916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7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02920" y="700496"/>
            <a:ext cx="2070463" cy="411969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286000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/>
          <p:nvPr/>
        </p:nvSpPr>
        <p:spPr>
          <a:xfrm>
            <a:off x="502920" y="33832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Página Inicial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02920" y="370332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i="1"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[ Inserir captura de tela 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3056635" y="961279"/>
            <a:ext cx="3023833" cy="367746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6265475" y="1555638"/>
            <a:ext cx="2813615" cy="306208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dash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181" y="713086"/>
            <a:ext cx="1985481" cy="410237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/>
          <p:nvPr/>
        </p:nvSpPr>
        <p:spPr>
          <a:xfrm>
            <a:off x="663821" y="4860596"/>
            <a:ext cx="174219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Tela Home (Institucional)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6395" y="1025443"/>
            <a:ext cx="2943983" cy="3552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/>
          <p:nvPr/>
        </p:nvSpPr>
        <p:spPr>
          <a:xfrm>
            <a:off x="3265366" y="485775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Tela Entre em contato (Institucional)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0728" y="1605125"/>
            <a:ext cx="2676455" cy="297263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/>
          <p:nvPr/>
        </p:nvSpPr>
        <p:spPr>
          <a:xfrm>
            <a:off x="6340728" y="485775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Tela Login interno (ERP)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/>
          <p:nvPr/>
        </p:nvSpPr>
        <p:spPr>
          <a:xfrm>
            <a:off x="4726328" y="894633"/>
            <a:ext cx="4234792" cy="3670806"/>
          </a:xfrm>
          <a:prstGeom prst="roundRect">
            <a:avLst>
              <a:gd fmla="val 962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217932" y="894633"/>
            <a:ext cx="4165422" cy="3670806"/>
          </a:xfrm>
          <a:prstGeom prst="roundRect">
            <a:avLst>
              <a:gd fmla="val 962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527231" y="-9144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Demonstração das Funcionalidades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046720" y="470916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8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0"/>
          <p:cNvPicPr preferRelativeResize="0"/>
          <p:nvPr/>
        </p:nvPicPr>
        <p:blipFill rotWithShape="1">
          <a:blip r:embed="rId3">
            <a:alphaModFix/>
          </a:blip>
          <a:srcRect b="0" l="0" r="22443" t="0"/>
          <a:stretch/>
        </p:blipFill>
        <p:spPr>
          <a:xfrm>
            <a:off x="228098" y="907696"/>
            <a:ext cx="4142194" cy="364470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0"/>
          <p:cNvSpPr/>
          <p:nvPr/>
        </p:nvSpPr>
        <p:spPr>
          <a:xfrm>
            <a:off x="1498963" y="562238"/>
            <a:ext cx="23970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Gestão de Clientes (INTERNO)</a:t>
            </a:r>
            <a:endParaRPr sz="10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000568" y="550333"/>
            <a:ext cx="23970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Gestão de Orçamentos (INTERNO)</a:t>
            </a:r>
            <a:endParaRPr sz="10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7585" y="907696"/>
            <a:ext cx="4200473" cy="364470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527231" y="21395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Alguns Módulos do sistema</a:t>
            </a:r>
            <a:endParaRPr sz="1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/>
          <p:nvPr/>
        </p:nvSpPr>
        <p:spPr>
          <a:xfrm>
            <a:off x="4652868" y="894633"/>
            <a:ext cx="4234792" cy="3670806"/>
          </a:xfrm>
          <a:prstGeom prst="roundRect">
            <a:avLst>
              <a:gd fmla="val 962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217932" y="894633"/>
            <a:ext cx="4234792" cy="3670806"/>
          </a:xfrm>
          <a:prstGeom prst="roundRect">
            <a:avLst>
              <a:gd fmla="val 962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527231" y="-9144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Demonstração das Funcionalidades Alguns Módulos do sistema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8046720" y="470916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8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1603674" y="551965"/>
            <a:ext cx="23970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Gestão Visual (INTERNO)</a:t>
            </a:r>
            <a:endParaRPr sz="10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5994037" y="551965"/>
            <a:ext cx="239703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Gestão de Perfil (INTERNO)</a:t>
            </a:r>
            <a:endParaRPr sz="10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215" y="907402"/>
            <a:ext cx="4210226" cy="3644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6606" y="907695"/>
            <a:ext cx="4184931" cy="364447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1"/>
          <p:cNvSpPr/>
          <p:nvPr/>
        </p:nvSpPr>
        <p:spPr>
          <a:xfrm>
            <a:off x="527231" y="21395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Alguns Módulos do sistema</a:t>
            </a:r>
            <a:endParaRPr sz="1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Resultados esperados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Objetivos a serem alcançados com o sistema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8046720" y="470916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9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320040" y="1417320"/>
            <a:ext cx="160020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320040" y="1417320"/>
            <a:ext cx="1600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320040" y="160020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2860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2"/>
          <p:cNvSpPr/>
          <p:nvPr/>
        </p:nvSpPr>
        <p:spPr>
          <a:xfrm>
            <a:off x="411480" y="3063240"/>
            <a:ext cx="1417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Centralização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das informações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2057400" y="1417320"/>
            <a:ext cx="160020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2057400" y="1417320"/>
            <a:ext cx="1600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2057400" y="160020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5" name="Google Shape;26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0320" y="22860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2"/>
          <p:cNvSpPr/>
          <p:nvPr/>
        </p:nvSpPr>
        <p:spPr>
          <a:xfrm>
            <a:off x="2148840" y="3063240"/>
            <a:ext cx="1417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Organização dos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processos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3794760" y="1417320"/>
            <a:ext cx="160020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3794760" y="1417320"/>
            <a:ext cx="1600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3794760" y="160020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7680" y="22860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2"/>
          <p:cNvSpPr/>
          <p:nvPr/>
        </p:nvSpPr>
        <p:spPr>
          <a:xfrm>
            <a:off x="3886200" y="3063240"/>
            <a:ext cx="1417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Controle dos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serviços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532120" y="1417320"/>
            <a:ext cx="160020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5532120" y="1417320"/>
            <a:ext cx="1600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5532120" y="160020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5" name="Google Shape;27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5040" y="22860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2"/>
          <p:cNvSpPr/>
          <p:nvPr/>
        </p:nvSpPr>
        <p:spPr>
          <a:xfrm>
            <a:off x="5623560" y="3063240"/>
            <a:ext cx="1417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Facilidade 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utilização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7269480" y="1417320"/>
            <a:ext cx="160020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7269480" y="1417320"/>
            <a:ext cx="1600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7269480" y="160020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0" name="Google Shape;280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2400" y="22860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2"/>
          <p:cNvSpPr/>
          <p:nvPr/>
        </p:nvSpPr>
        <p:spPr>
          <a:xfrm>
            <a:off x="7360920" y="3063240"/>
            <a:ext cx="1417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Maior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produtividade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Aprendizados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Conhecimentos adquiridos durante o projeto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8046720" y="470916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502920" y="1371600"/>
            <a:ext cx="26060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6" y="16367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3"/>
          <p:cNvSpPr/>
          <p:nvPr/>
        </p:nvSpPr>
        <p:spPr>
          <a:xfrm>
            <a:off x="1280160" y="137160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Engenharia de Software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3383280" y="1371600"/>
            <a:ext cx="26060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7" name="Google Shape;2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2736" y="16367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3"/>
          <p:cNvSpPr/>
          <p:nvPr/>
        </p:nvSpPr>
        <p:spPr>
          <a:xfrm>
            <a:off x="4160520" y="137160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Levantamento de Requisitos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6263640" y="1371600"/>
            <a:ext cx="26060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6400800" y="1554480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3096" y="16367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3"/>
          <p:cNvSpPr/>
          <p:nvPr/>
        </p:nvSpPr>
        <p:spPr>
          <a:xfrm>
            <a:off x="7040880" y="137160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Modelagem de Dados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502920" y="2514600"/>
            <a:ext cx="26060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2376" y="27797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3"/>
          <p:cNvSpPr/>
          <p:nvPr/>
        </p:nvSpPr>
        <p:spPr>
          <a:xfrm>
            <a:off x="1280160" y="251460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3383280" y="2514600"/>
            <a:ext cx="26060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3520440" y="2697480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02736" y="27797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3"/>
          <p:cNvSpPr/>
          <p:nvPr/>
        </p:nvSpPr>
        <p:spPr>
          <a:xfrm>
            <a:off x="4160520" y="251460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Flask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6263640" y="2514600"/>
            <a:ext cx="26060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6400800" y="2697480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3096" y="27797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3"/>
          <p:cNvSpPr/>
          <p:nvPr/>
        </p:nvSpPr>
        <p:spPr>
          <a:xfrm>
            <a:off x="7040880" y="251460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502920" y="3657600"/>
            <a:ext cx="26060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7" name="Google Shape;317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2376" y="39227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3"/>
          <p:cNvSpPr/>
          <p:nvPr/>
        </p:nvSpPr>
        <p:spPr>
          <a:xfrm>
            <a:off x="1280160" y="365760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Tailwind CSS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3383280" y="3657600"/>
            <a:ext cx="26060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3520440" y="3840480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02736" y="39227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3"/>
          <p:cNvSpPr/>
          <p:nvPr/>
        </p:nvSpPr>
        <p:spPr>
          <a:xfrm>
            <a:off x="4160520" y="365760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Git e GitHub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6263640" y="3657600"/>
            <a:ext cx="26060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6400800" y="3840480"/>
            <a:ext cx="502920" cy="502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5" name="Google Shape;325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83096" y="3922776"/>
            <a:ext cx="338328" cy="33832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3"/>
          <p:cNvSpPr/>
          <p:nvPr/>
        </p:nvSpPr>
        <p:spPr>
          <a:xfrm>
            <a:off x="7040880" y="365760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Trabalho em Equipe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Evoluções Futuras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Próximos passos e melhorias planejadas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8046720" y="470916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11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02920" y="1417320"/>
            <a:ext cx="1920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502920" y="1417320"/>
            <a:ext cx="54864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8" name="Google Shape;3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00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4"/>
          <p:cNvSpPr/>
          <p:nvPr/>
        </p:nvSpPr>
        <p:spPr>
          <a:xfrm>
            <a:off x="685675" y="2080203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</a:rPr>
              <a:t>Gestão de boletos, transações financeiras,dentro do sistema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2651760" y="1417320"/>
            <a:ext cx="1920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2651760" y="1417320"/>
            <a:ext cx="54864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0360" y="1600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4"/>
          <p:cNvSpPr/>
          <p:nvPr/>
        </p:nvSpPr>
        <p:spPr>
          <a:xfrm>
            <a:off x="2834640" y="214884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Relatórios gerenciais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4800600" y="1417320"/>
            <a:ext cx="1920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4800600" y="1417320"/>
            <a:ext cx="54864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6" name="Google Shape;34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0" y="1600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4"/>
          <p:cNvSpPr/>
          <p:nvPr/>
        </p:nvSpPr>
        <p:spPr>
          <a:xfrm>
            <a:off x="4983480" y="214884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Integração com WhatsApp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6949440" y="1417320"/>
            <a:ext cx="192024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6949440" y="1417320"/>
            <a:ext cx="54864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8040" y="1600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4"/>
          <p:cNvSpPr/>
          <p:nvPr/>
        </p:nvSpPr>
        <p:spPr>
          <a:xfrm>
            <a:off x="7132320" y="214884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Envio automático de e-mails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2651758" y="3086090"/>
            <a:ext cx="19203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2651758" y="3086090"/>
            <a:ext cx="5490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4" name="Google Shape;35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34658" y="326897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4"/>
          <p:cNvSpPr/>
          <p:nvPr/>
        </p:nvSpPr>
        <p:spPr>
          <a:xfrm>
            <a:off x="2834638" y="3817610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Dashboard analítico com  análise de mercado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4800598" y="3086090"/>
            <a:ext cx="19203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4800598" y="3086090"/>
            <a:ext cx="5490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198" y="326897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4"/>
          <p:cNvSpPr/>
          <p:nvPr/>
        </p:nvSpPr>
        <p:spPr>
          <a:xfrm>
            <a:off x="4983478" y="3817610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Aplicativo mobile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548640" y="45720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7680960" y="384048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822960" y="45720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7955280" y="384048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1097280" y="45720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8229600" y="384048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1371600" y="45720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8503920" y="384048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548640" y="7315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7680960" y="411480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822960" y="7315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7955280" y="411480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1097280" y="7315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8229600" y="411480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1371600" y="7315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8503920" y="411480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548640" y="100584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7680960" y="43891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822960" y="100584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7955280" y="43891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1097280" y="100584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8229600" y="43891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1371600" y="100584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8503920" y="43891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548640" y="128016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7680960" y="466344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822960" y="128016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7955280" y="466344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1097280" y="128016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8229600" y="466344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1371600" y="128016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8503920" y="466344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2870563" y="2450592"/>
            <a:ext cx="340287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Sistema Web para Gerenciamento de Metalúrgica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Engenharia de Software — PAC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